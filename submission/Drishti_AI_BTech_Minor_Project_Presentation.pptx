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188720"/>
            <a:ext cx="3840480" cy="411480"/>
          </a:xfrm>
          <a:prstGeom prst="roundRect">
            <a:avLst/>
          </a:prstGeom>
          <a:solidFill>
            <a:srgbClr val="1E3A8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  B.TECH MINOR PROJECT PRESENTATION 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8FAFC"/>
                </a:solidFill>
              </a:defRPr>
            </a:pPr>
            <a:r>
              <a:t>DRISHTI AI</a:t>
            </a:r>
            <a:br/>
            <a:r>
              <a:t>Smart Campus Biometric Attendance Platform</a:t>
            </a:r>
          </a:p>
          <a:p>
            <a:pPr>
              <a:defRPr sz="1500">
                <a:solidFill>
                  <a:srgbClr val="38BDF8"/>
                </a:solidFill>
              </a:defRPr>
            </a:pPr>
            <a:r>
              <a:t>Real-Time Facial Biometrics (dlib 128-D) | Anti-Spoofing | Cloud Clustered Database (MongoDB Atlas) | Centralized RBAC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297680"/>
            <a:ext cx="10515600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4498848"/>
            <a:ext cx="10058400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Project Metadata &amp; Verification Details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Candidate Name: Atharva Tripathi  |  Department: Computer Science &amp; Engineering (AI &amp; DS)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Technology Stack: Python 3.11-3.14, Flask, Socket.IO, dlib (ResNet 128-D), OpenCV, MongoDB Atlas, Docker, Render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Cloud Deployment: https://drishti-ai-attendance.onrender.com (Live HTTPS with active MongoDB Atlas cluster)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Source Repository: https://github.com/Atharvagig/drishti-ai-attendance (Public Git repository with test suite)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02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1. Problem Statement &amp; Motivation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F59E0B"/>
                </a:solidFill>
              </a:defRPr>
            </a:pPr>
            <a:r>
              <a:t>Challenges in Traditional Campus Systems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Instructional Time Loss: Manual roll calls consume 10-15 minutes of every 60-minute lecture, wasting up to 25% of teaching time.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Rampant Proxy Attendance: Paper rosters, RFID cards, and manual sign-ins allow 'buddy punching' with zero biometric accountability.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Hygiene &amp; Queue Bottlenecks: Physical fingerprint readers cause long classroom queues and surface transmission concerns.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Delayed At-Risk Interventions: Low attendance (&lt;75%) is detected only at semester end, preventing timely academic counseling.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Data Silos &amp; Record Tampering: Physical ledgers lack centralized synchronization, tamper-evident audit logs, and cloud backups.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The Drishti AI Solution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Non-Intrusive Computer Vision: Fast facial recognition verifies students in &lt; 0.45s without physical contact.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128-D Deep Metric Biometrics: ResNet-based facial embeddings ensure high accuracy across diverse lighting, expressions, and angles.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Active Anti-Spoofing: MediaPipe Eye Aspect Ratio (EAR) and head kinematics prevent photo, screen replay, and paper mask fraud.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Real-Time Classroom Broadcasting: WebSocket (Socket.IO) pushes check-in events to faculty terminals instantly.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Enterprise Cloud Persistence: Production MongoDB Atlas cluster guarantees high availability, security, and institutional scaling.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03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2. System Architecture &amp; End-to-End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End-to-End Attendance Pipeline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1. Video Capture: DirectShow OpenCV (hardware camera) or WebRTC canvas streaming (/api/recognize_frame).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2. Image Normalization: Automatic bounding, downscaling (fx=0.5, fy=0.5), and color-space conversion (BGR to RGB).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3. Face Detection &amp; Landmark Extraction: HOG detection finds face regions; MediaPipe extracts 468 landmark coordinates.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4. 128-D Embedding Generation: Deep metric network maps face crop into invariant 128-dimensional Euclidean space.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5. Distance Comparison: Compares candidate vector with cached student vectors using Euclidean metric (tolerance &lt;= 0.45).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6. Business Logic &amp; Real-Time Sync: Enforces duplicate prevention, lateness rules, updates MongoDB Atlas, and emits Socket.IO event.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</a:defRPr>
            </a:pPr>
            <a:r>
              <a:t>Modular Tier Architecture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Presentation Tier: Glassmorphic Single Page Application (HTML5, Vanilla CSS tokens, ES6 JavaScript, Phosphor Icons).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Application Tier: Python Flask v2.1 with Werkzeug ProxyFix, REST API endpoints, and eventlet-powered SocketIO engine.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Biometric AI Engine: dlib C++ bindings, OpenCV, face_recognition ResNet models, and MediaPipe liveness detection.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Database Tier: MongoDB Atlas cloud cluster with replica sets, SRV TLS encryption, and compound unique indexes.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DevOps &amp; Container Tier: Multi-stage Docker container deployed to Render Web Services with automated CI/CD pipeline.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04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3. Biometric Pipeline: Multi-Pose Enrollment &amp; Recognition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Multi-Angle Biometric Enrollment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5-Pose Enrollment Architecture: Captures Front, Left Profile (-30 deg), Right Profile (+30 deg), Pitch Up (+15 deg), and Pitch Down (-15 deg).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Laplacian Quality Gate: Computes image sharpness via cv2.Laplacian(frame).var(); rejects blurry captures with score &lt; 80.0.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Adaptive Lighting Validation: Rejects overexposed (&gt;235 mean) or underexposed (&lt;40 mean) frames before computing embeddings.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Dual Storage Strategy: 128-D vectors serialized into MongoDB Atlas binary fields; reference image saved for legacy audit compatibility.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Cache Invalidation: Updates in-memory embedding cache immediately upon new enrollment without restarting the application.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Deep Metric Learning &amp; Euclidean Matching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ResNet-29 Backbone: Pre-trained deep metric network projects faces into a 128-dimensional hypersphere where same-person distance is minimized.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Euclidean Distance Metric: d(u, v) = sqrt(sum((u_i - v_i)^2)). Distance below threshold indicates confirmed identity.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Strict Match Tolerance: Configured at 0.45 (tighter than standard 0.60) to eliminate false positives in diverse campus cohorts.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Confidence Score Normalization: Confidence = round((1.0 - (min_distance / 0.45)) * 100, 1) mapped to human-readable percentages.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Multi-Face Batch Capability: Detects and classifies multiple faces simultaneously in group classroom camera feeds.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05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4. Anti-Spoofing: MediaPipe Liveness &amp; Kinematics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Eye Aspect Ratio (EAR) Blink Detection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468 Facial Mesh Landmarks: Uses MediaPipe FaceMesh to track micro-movements across eyelids and facial contours.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EAR Mathematical Formulation: EAR = (||p2 - p6|| + ||p3 - p5||) / (2 * ||p1 - p4||) tracking vertical vs horizontal eye opening.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Dynamic Blink Validation: Normal eye openness produces EAR ~0.30; a genuine blink drops EAR below 0.22 for 2-3 consecutive frames.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Continuous Tracking State Machine: Maintains per-face tracker state: PROBING -&gt; EYE_BLINK_DETECTED -&gt; LIVENESS_PASSED.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Zero False Acceptance on Photos: Static high-resolution 2D photographs and printed paper faces fail EAR dynamic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Kinematic Head Pose &amp; Replay Defense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Perspective-n-Point (PnP) Pose Estimation: Estimates 3D head orientation (Yaw, Pitch, Roll) using 2D image landmarks mapped to 3D facial model.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Replay Attack Detection: Digital screens (smartphones/tablets) exhibit planar flatness, lack of depth parallax, and unnatural glare.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Micro-Motion Analysis: Requires subtle natural head movement before granting biometric approval in high-security kiosks.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Automated Anomaly Logging: Unnatural spoof attempts trigger real-time anomaly alerts with snapshot evidence logged to MongoDB audit collection.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Graceful Fallback: Headless/remote server mode supports browser client-side WebRTC frame upload without server GPU dependencies.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06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5. Attendance Engine: Session Rules &amp; Anti-Duplicate Hierarchy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3-Tier Duplicate Prevention Hierarchy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Tier 1 — In-Memory Cooldown: 10-second per-student cooldown tracker prevents rapid re-triggering while a student walks past camera.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Tier 2 — Active Session Query: Checks MongoDB attendance collection for existing record matching (student_id, session_id).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Tier 3 — Database Unique Index: Unique compound index on (student_id, session_id, date) enforces atomic constraint at the database engine level.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Zero Double-Counts: Completely prevents race conditions and accidental duplicate entries even under concurrent network uploads.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Informative Client Feedback: Subsequent detections return 'Already marked today' status without creating database write errors.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Dynamic Session Logic &amp; Reconciliation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Dynamic Lateness Thresholding: Check-in time evaluated against session start time. If CheckIn &gt; StartTime + LateThreshold, status = 'Late'.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Automated Absentee Reconciliation: Stopping a session (/api/sessions/&lt;id&gt;/stop) triggers bulk-marking of all enrolled students without check-in as 'Absent'.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Session Locking: Once locked, sessions become immutable, preventing post-lecture tampering or fraudulent backdated attendance.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Faculty Override with Audit Log: Faculty can manually adjust status with required justification, creating an immutable audit record.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Real-Time Statistics Sync: Attendance rates, department averages, and student risk meters update automatically upon session close.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07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6. Security Architecture, RBAC &amp; HTTPS Session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6366F1"/>
                </a:solidFill>
              </a:defRPr>
            </a:pPr>
            <a:r>
              <a:t>Role-Based Access Control (RBAC) Matrix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Super Admin (*): Complete administrative control over users, cameras, global settings, audit logs, and system configuration.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Department Head: Scope-limited to specific department; can view departmental sessions, analytics, and student rosters.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Faculty: Access to classroom session launcher, live tracking controls, student attendance logs, and report exports.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Student: View-only access restricted strictly to their personal attendance history, percentage, and risk indicators.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Context-Aware Content Negotiation: Centralized decorators redirect browser page requests to /login while returning 401/403 JSON to APIs.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Enterprise Security &amp; Session Hardening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Cryptographic Passwords: Salted bcrypt password hashing with production enforcement (default passwords strictly prohibited).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Brute-Force Attack Defense: 5 consecutive failed login attempts trigger an automated 10-minute account lockout.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CSRF Token Validation: State-changing API mutations require valid X-CSRFToken header matching server-issued session token.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Reverse-Proxy Alignment: Werkzeug ProxyFix accurately interprets X-Forwarded-Proto: https behind cloud load balancers.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Hardened Session Cookies: HttpOnly=True, SameSite=Lax, Path=/, and Secure=True on HTTPS connections prevent XSS and session hijacking.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08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7. Cloud Deployment: Docker, Render &amp; MongoDB Atlas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Production Containerization (Render)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Multi-Stage Dockerfile: Uses clean Python 3.11/Linux x86_64 base with essential build tools and system dependencies (libgl1, libglib2.0).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Build Memory Optimization: Solved 8GB RAM compilation exhaustion by integrating prebuilt dlib-bin wheel and limiting CMAKE_BUILD_PARALLEL_LEVEL=1.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Production WSGI Server: Gunicorn with eventlet worker running on 0.0.0.0:$PORT supporting persistent WebSockets and high concurrency.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Cloud Health Monitoring: Dedicated /api/health endpoint provides real-time reporting on database engine, dlib status, and cached embeddings.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Zero Downtime Deploys: Automated Git-triggered builds from main branch with rolling health-check verification.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MongoDB Atlas Cloud Architecture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Global Clustered Replica Set: Production database hosted on MongoDB Atlas with automatic multi-zone failover and 99.9% uptime SLA.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End-to-End Encryption: TLSv1.3 encryption with certifi CA bundle validation ensuring secure cross-cloud transit.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Dual-Engine Fallback Resilience: Intelligent database layer connects to MongoDB Atlas in cloud while preserving SQLite for offline campus labs.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Optimized Schema &amp; Indexing: Indexes on (student_id, session_id), (date), (username), and (created_at) ensure sub-10ms queries.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Automated SQLite Migration: Built-in migration engine safely transfers students, face embeddings, attendance records, and audit logs.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09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8. Verification, Performance Benchmarks &amp; Test Results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Automated Test Suite (29/29 Passing)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Auth &amp; Session Flow (test_auth_flow.py): 7/7 tests passed — unauthenticated page 302 redirects, API 401 JSON, CSRF, and session cookies.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Security &amp; RBAC (test_security_and_auth.py): 8/8 tests passed — brute force 5-attempt lockout, role isolation, and production password checks.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MongoDB Atlas Integration (test_database_mongo.py): 8/8 tests passed — schema, CRUD, unique compound indexes, and migration consistency.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Browser Camera Workflow (test_browser_camera_workflow.py): 4/4 tests passed — frame ingestion, dlib inference, duplicate checks.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RBAC Scope Helper Tests (test_rbac.py): 2/2 tests passed — data-scope isolation for super admin, department heads, and students.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Performance &amp; Benchmark Metrics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Facial Detection &amp; Match Latency: 1.88s (cold model load) | 0.35s - 0.45s (warm cached inference).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Memory Footprint: &lt; 450 MB RAM compute during active face recognition (well below cloud resource limits).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Database Migration Accuracy: 100% record match across students (15/15), attendance (5/5), sessions (23/23), and audit logs (53/53).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Duplicate Prevention Rate: 100% — Zero double-counts across continuous recognition stress tests.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Live Production Health: Verified in production at https://drishti-ai-attendance.onrender.com/api/health (Status: Healthy).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DRISHTI AI v2.1 -- B.TECH MINOR PROJECT  |  SLIDE 10 /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9. Conclusion, Real-World Impact &amp; 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0B981"/>
                </a:solidFill>
              </a:defRPr>
            </a:pPr>
            <a:r>
              <a:t>Project Outcomes &amp; Institutional Impact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100% Operational Platform: Fully functional contactless AI attendance platform ready for college deployment.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Elimination of Proxy Attendance: Deep metric 128-D biometrics and anti-spoofing ensure indisputable record authenticity.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Recaptured Lecture Time: Automated camera recognition reclaims 10-15 minutes per lecture for active academic teaching.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Early Academic Intervention: Automated risk flags immediately highlight students falling below 75% threshold.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Institutional Cloud Governance: Centralized MongoDB Atlas storage, role-based dashboards, and automated Excel/CSV export.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847088"/>
            <a:ext cx="4754880" cy="4169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38BDF8"/>
                </a:solidFill>
              </a:defRPr>
            </a:pPr>
            <a:r>
              <a:t>Future Research Scope &amp; Q&amp;A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Edge AI Hardware Deployment: Porting dlib inference pipeline to NVIDIA Jetson Orin Nano for distributed offline classroom terminals.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Infrared / 3D Depth Sensing: Integrating structured-light / IR depth sensors for military-grade 3D facial anti-spoofing.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Automated Multi-Channel Alerts: Instant WhatsApp and SMS push notifications to students and parents when attendance drops below 75%.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Wide-Angle Multi-Face Attendance: Batch recognition of 30+ students simultaneously from wide-angle classroom security cameras.</a:t>
            </a:r>
          </a:p>
          <a:p>
            <a:pPr>
              <a:spcAft>
                <a:spcPts val="500"/>
              </a:spcAft>
              <a:defRPr sz="1150">
                <a:solidFill>
                  <a:srgbClr val="94A3B8"/>
                </a:solidFill>
              </a:defRPr>
            </a:pPr>
            <a:r>
              <a:t>•  Project Status: Fully Deployed &amp; Verified. Open for Viva Examination &amp; Live Demonstration.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